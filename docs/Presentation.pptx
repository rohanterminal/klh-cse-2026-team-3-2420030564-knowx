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4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7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1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6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8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7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0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1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0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1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24886-7972-D2D2-BDB8-0AB6AE40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22503" r="-7" b="65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0435" y="932454"/>
            <a:ext cx="7462210" cy="4197155"/>
          </a:xfrm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latin typeface="Univers Condensed"/>
                <a:ea typeface="+mj-lt"/>
                <a:cs typeface="Times New Roman"/>
              </a:rPr>
              <a:t>        Hybrid RAG Framework for</a:t>
            </a:r>
            <a:br>
              <a:rPr lang="en-US" sz="3100">
                <a:ea typeface="+mj-lt"/>
                <a:cs typeface="+mj-lt"/>
              </a:rPr>
            </a:br>
            <a:br>
              <a:rPr lang="en-US" sz="3100">
                <a:ea typeface="+mj-lt"/>
                <a:cs typeface="+mj-lt"/>
              </a:rPr>
            </a:br>
            <a:r>
              <a:rPr lang="en-US" sz="3100">
                <a:latin typeface="Univers Condensed"/>
                <a:ea typeface="+mj-lt"/>
                <a:cs typeface="Times New Roman"/>
              </a:rPr>
              <a:t>Enterprise Knowledge Management</a:t>
            </a:r>
            <a:endParaRPr lang="en-US" sz="3100">
              <a:latin typeface="Univers Condensed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/>
          </a:bodyPr>
          <a:lstStyle/>
          <a:p>
            <a:pPr algn="r"/>
            <a:r>
              <a:rPr lang="en-US" sz="1800"/>
              <a:t>KL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76A782-6C7B-D17B-4498-7A6CA2E11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4082"/>
            <a:ext cx="2092779" cy="10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DA4B52-6BC2-AA65-A860-DC2A2C12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51" y="1989098"/>
            <a:ext cx="10202239" cy="36803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371881-ED05-BE6D-B2A6-611B352266B0}"/>
              </a:ext>
            </a:extLst>
          </p:cNvPr>
          <p:cNvSpPr txBox="1"/>
          <p:nvPr/>
        </p:nvSpPr>
        <p:spPr>
          <a:xfrm>
            <a:off x="4245275" y="1302528"/>
            <a:ext cx="599226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TEAM MEMBERS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F38EC3-E19C-0AA6-BF16-E503E0A38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4082"/>
            <a:ext cx="2065565" cy="102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EDF8-DED5-661B-B214-6CFF3F37E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547" y="924045"/>
            <a:ext cx="10691265" cy="110503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931A0-EC0C-7D89-5825-14AEA05DE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26" y="1701132"/>
            <a:ext cx="10671974" cy="426075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Modern organizations generate vast amounts of enterprise documents such as annual reports, company</a:t>
            </a: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policies, technical manuals, financial statements, product documentation, and knowledge base articles.</a:t>
            </a: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As these documents continue to grow, finding accurate information becomes difficult using traditional</a:t>
            </a: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keyword-based search systems.</a:t>
            </a:r>
            <a:endParaRPr lang="en-US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Large Language Models (LLMs) provide intelligent responses but often generate incorrect or</a:t>
            </a: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hallucinated answers when they lack access to enterprise-specific information.</a:t>
            </a:r>
            <a:endParaRPr lang="en-US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Retrieval-Augmented Generation (RAG) improves this by retrieving relevant enterprise documents</a:t>
            </a: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before generating responses. This project further enhances RAG using a </a:t>
            </a:r>
            <a:r>
              <a:rPr lang="en-US" b="1">
                <a:latin typeface="Times New Roman"/>
                <a:ea typeface="+mn-lt"/>
                <a:cs typeface="Times New Roman"/>
              </a:rPr>
              <a:t>Hybrid Retrieval</a:t>
            </a:r>
            <a:r>
              <a:rPr lang="en-US">
                <a:latin typeface="Times New Roman"/>
                <a:ea typeface="+mn-lt"/>
                <a:cs typeface="Times New Roman"/>
              </a:rPr>
              <a:t> approach</a:t>
            </a: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that combines semantic and keyword search for more accurate and context-aware enterprise</a:t>
            </a:r>
          </a:p>
          <a:p>
            <a:pPr algn="just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knowledge management.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F7BDF-5390-EBF1-B084-5F97E61C0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504" y="4082"/>
            <a:ext cx="2392136" cy="109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1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3372-FE34-9B89-67D8-B1AECBCE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413" y="894728"/>
            <a:ext cx="10691265" cy="1307592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B13F-3432-08FD-8A0E-98FBB782E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40729"/>
            <a:ext cx="10691265" cy="42211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Organizations face several challenges while managing enterprise knowledge: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>
                <a:latin typeface="Times New Roman"/>
                <a:ea typeface="+mn-lt"/>
                <a:cs typeface="Times New Roman"/>
              </a:rPr>
              <a:t>Large volumes of enterprise documents 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>
                <a:latin typeface="Times New Roman"/>
                <a:ea typeface="+mn-lt"/>
                <a:cs typeface="Times New Roman"/>
              </a:rPr>
              <a:t>Slow manual document search 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>
                <a:latin typeface="Times New Roman"/>
                <a:ea typeface="+mn-lt"/>
                <a:cs typeface="Times New Roman"/>
              </a:rPr>
              <a:t>Traditional keyword search misses contextual information </a:t>
            </a:r>
          </a:p>
          <a:p>
            <a:pPr>
              <a:buFont typeface="Arial"/>
              <a:buChar char="•"/>
            </a:pPr>
            <a:r>
              <a:rPr lang="en-US" sz="1900">
                <a:latin typeface="Times New Roman"/>
                <a:ea typeface="+mn-lt"/>
                <a:cs typeface="Times New Roman"/>
              </a:rPr>
              <a:t>Semantic search alone may miss exact keyword matches 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>
                <a:latin typeface="Times New Roman"/>
                <a:ea typeface="+mn-lt"/>
                <a:cs typeface="Times New Roman"/>
              </a:rPr>
              <a:t>LLMs produce hallucinated responses without enterprise context 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>
                <a:latin typeface="Times New Roman"/>
                <a:ea typeface="+mn-lt"/>
                <a:cs typeface="Times New Roman"/>
              </a:rPr>
              <a:t>Employees spend significant time searching for information </a:t>
            </a:r>
          </a:p>
          <a:p>
            <a:pPr marL="0" indent="0"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There is a need for an intelligent enterprise assistant capable of retrieving accurate information</a:t>
            </a:r>
          </a:p>
          <a:p>
            <a:pPr marL="0" indent="0"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from organizational documents.</a:t>
            </a: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886B7-A048-9637-452F-D62A18F71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575" y="4082"/>
            <a:ext cx="2637065" cy="12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8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7491-D547-5641-D40F-72C328D7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899" y="904374"/>
            <a:ext cx="10691265" cy="1307592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80D17-3F40-7B92-6A24-9A95CCDD4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30068"/>
            <a:ext cx="10691265" cy="4231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The objectives of the proposed system are: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Improve retrieval accuracy</a:t>
            </a:r>
            <a:r>
              <a:rPr lang="en-US" sz="1900">
                <a:latin typeface="Times New Roman"/>
                <a:ea typeface="+mn-lt"/>
                <a:cs typeface="Times New Roman"/>
              </a:rPr>
              <a:t> by overcoming the limitations of semantic-only retrieval. </a:t>
            </a:r>
          </a:p>
          <a:p>
            <a:pPr>
              <a:buFont typeface="Arial"/>
              <a:buChar char="•"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Combine semantic and keyword-based search</a:t>
            </a:r>
            <a:r>
              <a:rPr lang="en-US" sz="1900">
                <a:latin typeface="Times New Roman"/>
                <a:ea typeface="+mn-lt"/>
                <a:cs typeface="Times New Roman"/>
              </a:rPr>
              <a:t> using FAISS and BM25.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Improve relevance of retrieved context</a:t>
            </a:r>
            <a:r>
              <a:rPr lang="en-US" sz="1900">
                <a:latin typeface="Times New Roman"/>
                <a:ea typeface="+mn-lt"/>
                <a:cs typeface="Times New Roman"/>
              </a:rPr>
              <a:t> for enterprise-specific queries.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Reduce irrelevant or incomplete responses</a:t>
            </a:r>
            <a:r>
              <a:rPr lang="en-US" sz="1900">
                <a:latin typeface="Times New Roman"/>
                <a:ea typeface="+mn-lt"/>
                <a:cs typeface="Times New Roman"/>
              </a:rPr>
              <a:t> caused by ineffective document retrieval.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Reduce LLM hallucinations</a:t>
            </a:r>
            <a:r>
              <a:rPr lang="en-US" sz="1900">
                <a:latin typeface="Times New Roman"/>
                <a:ea typeface="+mn-lt"/>
                <a:cs typeface="Times New Roman"/>
              </a:rPr>
              <a:t> by providing more relevant and reliable context.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900" b="1">
                <a:latin typeface="Times New Roman"/>
                <a:ea typeface="+mn-lt"/>
                <a:cs typeface="Times New Roman"/>
              </a:rPr>
              <a:t>Evaluate the proposed Hybrid RAG against the existing RAG approach</a:t>
            </a:r>
            <a:r>
              <a:rPr lang="en-US" sz="1900">
                <a:latin typeface="Times New Roman"/>
                <a:ea typeface="+mn-lt"/>
                <a:cs typeface="Times New Roman"/>
              </a:rPr>
              <a:t> using multiple enterprise</a:t>
            </a:r>
          </a:p>
          <a:p>
            <a:pPr marL="0" indent="0">
              <a:buNone/>
            </a:pPr>
            <a:r>
              <a:rPr lang="en-US" sz="1900">
                <a:latin typeface="Times New Roman"/>
                <a:ea typeface="+mn-lt"/>
                <a:cs typeface="Times New Roman"/>
              </a:rPr>
              <a:t>   datasets.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endParaRPr lang="en-US" sz="19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81770-C744-B889-EF10-1B093577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254" y="4082"/>
            <a:ext cx="2106386" cy="10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4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FD86-3FE5-FC47-A4CB-9A6BDF3D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188" y="904374"/>
            <a:ext cx="10691265" cy="1307592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LITERATURE SURVEY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6DBCF5-2B7C-8F1A-5B72-AD1CF2F25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291" y="1710778"/>
            <a:ext cx="8252409" cy="44054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6233D3-9B1F-9116-408C-7B11B9A89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4082"/>
            <a:ext cx="2065565" cy="102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6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674A6-93AD-8EEB-1DA2-DC88194B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70" y="769716"/>
            <a:ext cx="10691265" cy="1307592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FLOW 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3C0603-0DD1-AB8F-B97B-D6BFA0D4B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18" y="1472908"/>
            <a:ext cx="5834156" cy="4463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BA0456-6EBD-EC5B-4B71-7F512D3C3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730" y="1478474"/>
            <a:ext cx="5555013" cy="4482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D8E93D-B287-5F58-15F4-E93A06F19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467" y="4081"/>
            <a:ext cx="2460173" cy="127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53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7E229-0FCC-65C5-49D4-E782F32F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181" y="909637"/>
            <a:ext cx="6770499" cy="1316736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DATASETS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9375B7-6F67-694C-1C9E-89FF3E8F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6" r="-3" b="-3"/>
          <a:stretch>
            <a:fillRect/>
          </a:stretch>
        </p:blipFill>
        <p:spPr>
          <a:xfrm>
            <a:off x="20" y="10"/>
            <a:ext cx="4040074" cy="232574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76800" y="722376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36E7CAA-7D3C-A3B0-498F-B0368D7E4F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11" b="1"/>
          <a:stretch>
            <a:fillRect/>
          </a:stretch>
        </p:blipFill>
        <p:spPr>
          <a:xfrm>
            <a:off x="-2" y="2325755"/>
            <a:ext cx="4040094" cy="22280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6B9752-DE81-4566-52A7-E19C181D34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02"/>
          <a:stretch>
            <a:fillRect/>
          </a:stretch>
        </p:blipFill>
        <p:spPr>
          <a:xfrm>
            <a:off x="-2" y="4532244"/>
            <a:ext cx="4040094" cy="2325756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63B9C3-3D9F-AAFF-0C7A-35AB3550F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179" y="1586294"/>
            <a:ext cx="6770501" cy="444649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The proposed system uses </a:t>
            </a:r>
            <a:r>
              <a:rPr lang="en-US" b="1">
                <a:latin typeface="Times New Roman"/>
                <a:ea typeface="+mn-lt"/>
                <a:cs typeface="Times New Roman"/>
              </a:rPr>
              <a:t>publicly available enterprise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 documents</a:t>
            </a:r>
            <a:r>
              <a:rPr lang="en-US">
                <a:latin typeface="Times New Roman"/>
                <a:ea typeface="+mn-lt"/>
                <a:cs typeface="Times New Roman"/>
              </a:rPr>
              <a:t> from three companies: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b="1">
                <a:latin typeface="Times New Roman"/>
                <a:ea typeface="+mn-lt"/>
                <a:cs typeface="Times New Roman"/>
              </a:rPr>
              <a:t>Microsoft Annual Reports</a:t>
            </a:r>
            <a:r>
              <a:rPr lang="en-US">
                <a:latin typeface="Times New Roman"/>
                <a:ea typeface="+mn-lt"/>
                <a:cs typeface="Times New Roman"/>
              </a:rPr>
              <a:t> – Business, financial, and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   sustainability reports.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b="1">
                <a:latin typeface="Times New Roman"/>
                <a:ea typeface="+mn-lt"/>
                <a:cs typeface="Times New Roman"/>
              </a:rPr>
              <a:t>NVIDIA Annual Reports</a:t>
            </a:r>
            <a:r>
              <a:rPr lang="en-US">
                <a:latin typeface="Times New Roman"/>
                <a:ea typeface="+mn-lt"/>
                <a:cs typeface="Times New Roman"/>
              </a:rPr>
              <a:t> – AI, technology, and corporate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   reports.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en-US" b="1">
                <a:latin typeface="Times New Roman"/>
                <a:ea typeface="+mn-lt"/>
                <a:cs typeface="Times New Roman"/>
              </a:rPr>
              <a:t>Infosys Annual Reports</a:t>
            </a:r>
            <a:r>
              <a:rPr lang="en-US">
                <a:latin typeface="Times New Roman"/>
                <a:ea typeface="+mn-lt"/>
                <a:cs typeface="Times New Roman"/>
              </a:rPr>
              <a:t> – Annual, ESG, and governance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   reports. 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These datasets are used to evaluate the performance and</a:t>
            </a:r>
            <a:endParaRPr lang="en-US">
              <a:latin typeface="Calisto MT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effectiveness of the proposed Hybrid RAG framework in enterprise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knowledge retrieval.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76800" y="6138866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6B194CE-0B29-D94D-F7F9-DAA2E4E8D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9504" y="4082"/>
            <a:ext cx="2011136" cy="90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67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943F-4D5D-9908-5082-85ED2A2F9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795" y="914400"/>
            <a:ext cx="10691265" cy="1307592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D96D0-443E-231F-FE96-EB00A47AB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435" y="1907032"/>
            <a:ext cx="10691265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The proposed </a:t>
            </a:r>
            <a:r>
              <a:rPr lang="en-US" b="1">
                <a:latin typeface="Times New Roman"/>
                <a:ea typeface="+mn-lt"/>
                <a:cs typeface="Times New Roman"/>
              </a:rPr>
              <a:t>Hybrid RAG Framework for Enterprise Knowledge Management</a:t>
            </a:r>
            <a:r>
              <a:rPr lang="en-US">
                <a:latin typeface="Times New Roman"/>
                <a:ea typeface="+mn-lt"/>
                <a:cs typeface="Times New Roman"/>
              </a:rPr>
              <a:t> is expected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to provide fast, accurate, and context-aware responses by combining semantic search and keyword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based retrieval. The system will efficiently retrieve relevant information from enterprise documents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such as annual reports and corporate publications, reducing hallucinations and improving answer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relevance. It aims to enhance enterprise knowledge accessibility, decision-making, and overall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information retrieval performance.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13E1E-9C6B-22F6-7CB8-6286CBDC3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754" y="4082"/>
            <a:ext cx="1915886" cy="91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4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7244B-60C1-D4E3-1875-E2E885FB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7115" y="1056640"/>
            <a:ext cx="10691265" cy="1307592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22A0C-05EC-25A5-EEC4-B9CFCEC6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435" y="1815592"/>
            <a:ext cx="10691265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The proposed Hybrid RAG Framework offers an effective solution for enterprise knowledge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management by integrating semantic retrieval, BM25 keyword search, and Llama 3. By leveraging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publicly available enterprise documents from Microsoft, NVIDIA, and Infosys, the system delivers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reliable and context-aware responses. Compared to traditional RAG systems, the proposed framework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improves retrieval accuracy, response quality, and user experience, making it a practical solution for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+mn-lt"/>
                <a:cs typeface="Times New Roman"/>
              </a:rPr>
              <a:t> modern enterprise information management.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ECDBA-2651-AB5C-1134-6FD6F2749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325" y="4082"/>
            <a:ext cx="2351315" cy="114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0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B0642-96EE-7979-BA2A-3EFD1133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790" y="833504"/>
            <a:ext cx="10283452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THANK 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85FDC83-7919-D4DF-E192-19E56D97B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2" y="4360"/>
            <a:ext cx="12191431" cy="68509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2127E6-9966-E97E-513B-0B6BE15DCB87}"/>
              </a:ext>
            </a:extLst>
          </p:cNvPr>
          <p:cNvSpPr txBox="1"/>
          <p:nvPr/>
        </p:nvSpPr>
        <p:spPr>
          <a:xfrm>
            <a:off x="3466008" y="2883041"/>
            <a:ext cx="727651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>
                <a:latin typeface="Times New Roman"/>
                <a:cs typeface="Times New Roman"/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7C8B31-DFD7-9AEE-3283-E62752F78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861" y="4082"/>
            <a:ext cx="2092779" cy="99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74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ChronicleVTI</vt:lpstr>
      <vt:lpstr>        Hybrid RAG Framework for  Enterprise Knowledge Management</vt:lpstr>
      <vt:lpstr>PowerPoint Presentation</vt:lpstr>
      <vt:lpstr>INTRODUCTION</vt:lpstr>
      <vt:lpstr>PROBLEM STATEMENT</vt:lpstr>
      <vt:lpstr>OBJECTIVES</vt:lpstr>
      <vt:lpstr>LITERATURE SURVEY</vt:lpstr>
      <vt:lpstr>FLOW CHART</vt:lpstr>
      <vt:lpstr>DATASETS</vt:lpstr>
      <vt:lpstr>EXPECTED OUTCOME</vt:lpstr>
      <vt:lpstr>CONCLUSION</vt:lpstr>
      <vt:lpstr>THANK 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2026-08-07T16:58:25Z</dcterms:created>
  <dcterms:modified xsi:type="dcterms:W3CDTF">2026-08-19T12:31:28Z</dcterms:modified>
</cp:coreProperties>
</file>